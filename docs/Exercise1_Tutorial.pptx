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4" r:id="rId1"/>
  </p:sldMasterIdLst>
  <p:notesMasterIdLst>
    <p:notesMasterId r:id="rId29"/>
  </p:notesMasterIdLst>
  <p:sldIdLst>
    <p:sldId id="379" r:id="rId2"/>
    <p:sldId id="442" r:id="rId3"/>
    <p:sldId id="414" r:id="rId4"/>
    <p:sldId id="415" r:id="rId5"/>
    <p:sldId id="416" r:id="rId6"/>
    <p:sldId id="417" r:id="rId7"/>
    <p:sldId id="418" r:id="rId8"/>
    <p:sldId id="419" r:id="rId9"/>
    <p:sldId id="445" r:id="rId10"/>
    <p:sldId id="421" r:id="rId11"/>
    <p:sldId id="422" r:id="rId12"/>
    <p:sldId id="423" r:id="rId13"/>
    <p:sldId id="444" r:id="rId14"/>
    <p:sldId id="425" r:id="rId15"/>
    <p:sldId id="426" r:id="rId16"/>
    <p:sldId id="427" r:id="rId17"/>
    <p:sldId id="428" r:id="rId18"/>
    <p:sldId id="429" r:id="rId19"/>
    <p:sldId id="430" r:id="rId20"/>
    <p:sldId id="431" r:id="rId21"/>
    <p:sldId id="458" r:id="rId22"/>
    <p:sldId id="455" r:id="rId23"/>
    <p:sldId id="457" r:id="rId24"/>
    <p:sldId id="446" r:id="rId25"/>
    <p:sldId id="449" r:id="rId26"/>
    <p:sldId id="435" r:id="rId27"/>
    <p:sldId id="459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72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188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75DDC-0299-9506-B088-E14EF0C2A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B7EB79-AB21-9B64-804C-D11681B44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0A5977-5EA7-EF46-42E7-FDDC717ABA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9C287-D49C-98F9-94C3-CC382F13A3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6298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54314-0CA2-398C-F64B-950ED6422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396519-B71A-4243-A060-C17CEA3E4B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1C4CEF-AB0B-88F9-128A-D1C82DA31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15DFE-F57D-F3B8-4471-224E93A305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89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89971-E654-CB08-43E1-7F48E8A2C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EE8DF7-EF28-A56D-AE70-0B38230DD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F8049-30B6-6DB4-06EB-AD86EB42E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6883E-C696-A6F7-7038-58AF3AFAD9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86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6449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A4F1F-1404-2F49-B526-6B3380B0A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F1BCEB-8EC9-9FDC-EBC5-007B5D79F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8A87E5-A4F0-0057-029F-D66AB7C7B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7CE26-4600-5562-7AEC-F955DF7406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993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4C13E-008D-8C14-417D-A5D3A67B1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D45EFA-1184-BF54-C481-08B597C19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9A093F-6987-741A-699A-66B5A487C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1860BA-7462-8A4F-7474-1D81D1856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7332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12152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D3F7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10881360" y="4480560"/>
            <a:ext cx="2377440" cy="2377440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737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200" dirty="0">
                <a:solidFill>
                  <a:schemeClr val="accent5"/>
                </a:solidFill>
                <a:latin typeface="Arial"/>
                <a:ea typeface="Noto Sans TC" pitchFamily="34" charset="-122"/>
                <a:cs typeface="Arial"/>
              </a:rPr>
              <a:t>CE2013 Introduction to CSIE</a:t>
            </a:r>
            <a:endParaRPr lang="en-US" dirty="0">
              <a:solidFill>
                <a:schemeClr val="accent5"/>
              </a:solidFill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Exercise 1 Tutorial</a:t>
            </a:r>
            <a:endParaRPr lang="en-US" sz="65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32461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 err="1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 · GitHub · uv Basics</a:t>
            </a:r>
            <a:endParaRPr lang="en-US" sz="28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5500" y="4206240"/>
            <a:ext cx="21590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825500" y="4206240"/>
            <a:ext cx="215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 Version Control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62300" y="4206240"/>
            <a:ext cx="23495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162300" y="4206240"/>
            <a:ext cx="23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GitHub Collaboration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689600" y="4206240"/>
            <a:ext cx="35560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5689600" y="4206240"/>
            <a:ext cx="355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uv Environment Management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23400" y="4206240"/>
            <a:ext cx="1778000" cy="457200"/>
          </a:xfrm>
          <a:prstGeom prst="roundRect">
            <a:avLst>
              <a:gd name="adj" fmla="val 50000"/>
            </a:avLst>
          </a:prstGeom>
          <a:solidFill>
            <a:srgbClr val="12152B"/>
          </a:solidFill>
          <a:ln w="9525">
            <a:solidFill>
              <a:srgbClr val="5C6B8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9423400" y="4206240"/>
            <a:ext cx="17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Merge Conflict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8278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2505A4EA-7E8B-7B43-AD4D-E6DA407A61AD}"/>
              </a:ext>
            </a:extLst>
          </p:cNvPr>
          <p:cNvSpPr txBox="1"/>
          <p:nvPr/>
        </p:nvSpPr>
        <p:spPr>
          <a:xfrm>
            <a:off x="546100" y="406400"/>
            <a:ext cx="914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" altLang="zh-TW" sz="1800" b="1" dirty="0">
                <a:solidFill>
                  <a:srgbClr val="1D3F72"/>
                </a:solidFill>
                <a:latin typeface="Arial"/>
                <a:cs typeface="Arial"/>
              </a:rPr>
              <a:t>OVERVIEW</a:t>
            </a:r>
            <a:endParaRPr lang="zh-TW" altLang="en-US" sz="1800" b="1" dirty="0">
              <a:solidFill>
                <a:srgbClr val="1D3F72"/>
              </a:solidFill>
              <a:latin typeface="Arial"/>
              <a:cs typeface="Arial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1F7758-C24C-5747-BFC8-2176EC3077EB}"/>
              </a:ext>
            </a:extLst>
          </p:cNvPr>
          <p:cNvSpPr txBox="1"/>
          <p:nvPr/>
        </p:nvSpPr>
        <p:spPr>
          <a:xfrm>
            <a:off x="546100" y="739745"/>
            <a:ext cx="10604500" cy="615553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sz="3400" dirty="0"/>
              <a:t>Overview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60C350-1D76-4942-8F6B-88D17FA6C39D}"/>
              </a:ext>
            </a:extLst>
          </p:cNvPr>
          <p:cNvSpPr/>
          <p:nvPr/>
        </p:nvSpPr>
        <p:spPr>
          <a:xfrm>
            <a:off x="1873262" y="1885553"/>
            <a:ext cx="25400" cy="4191000"/>
          </a:xfrm>
          <a:prstGeom prst="rect">
            <a:avLst/>
          </a:prstGeom>
          <a:solidFill>
            <a:srgbClr val="D5DCE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 sz="1800">
              <a:latin typeface="Arial"/>
              <a:cs typeface="Arial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FB33337-BB24-2B4B-BECD-270750D07C26}"/>
              </a:ext>
            </a:extLst>
          </p:cNvPr>
          <p:cNvSpPr/>
          <p:nvPr/>
        </p:nvSpPr>
        <p:spPr>
          <a:xfrm>
            <a:off x="1631962" y="1631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D6FB91E-F2B5-FE4B-AC25-8058FD2C6789}"/>
              </a:ext>
            </a:extLst>
          </p:cNvPr>
          <p:cNvSpPr txBox="1"/>
          <p:nvPr/>
        </p:nvSpPr>
        <p:spPr>
          <a:xfrm>
            <a:off x="2393962" y="16854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r>
              <a:rPr lang="en-US" altLang="zh-TW" sz="2000" b="1" dirty="0" err="1">
                <a:solidFill>
                  <a:srgbClr val="1B1F3B"/>
                </a:solidFill>
                <a:ea typeface="Noto Sans TC" pitchFamily="34" charset="-122"/>
                <a:cs typeface="Arial"/>
              </a:rPr>
              <a:t>Set Up Project Environment</a:t>
            </a:r>
            <a:endParaRPr lang="en-US" altLang="zh-TW" sz="2000" b="1" dirty="0">
              <a:solidFill>
                <a:srgbClr val="1B1F3B"/>
              </a:solidFill>
              <a:ea typeface="Noto Sans TC" pitchFamily="34" charset="-122"/>
              <a:cs typeface="Arial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4BD3E7-5061-F94C-8D53-0F34587A6A97}"/>
              </a:ext>
            </a:extLst>
          </p:cNvPr>
          <p:cNvSpPr txBox="1"/>
          <p:nvPr/>
        </p:nvSpPr>
        <p:spPr>
          <a:xfrm>
            <a:off x="5072062" y="1698198"/>
            <a:ext cx="5842000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Initialize the repo, clone it locally, and set up the Python environment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3CC6159-80EF-8341-AF35-95C3EE958E1B}"/>
              </a:ext>
            </a:extLst>
          </p:cNvPr>
          <p:cNvSpPr/>
          <p:nvPr/>
        </p:nvSpPr>
        <p:spPr>
          <a:xfrm>
            <a:off x="1631962" y="24697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lang="zh-TW" altLang="en-US" sz="18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507D380-6699-064B-B940-2E3D7992FF74}"/>
              </a:ext>
            </a:extLst>
          </p:cNvPr>
          <p:cNvSpPr txBox="1"/>
          <p:nvPr/>
        </p:nvSpPr>
        <p:spPr>
          <a:xfrm>
            <a:off x="2393962" y="25078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Project Version Control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DFCC04C-0D14-CC43-B626-E95AF1A996E6}"/>
              </a:ext>
            </a:extLst>
          </p:cNvPr>
          <p:cNvSpPr txBox="1"/>
          <p:nvPr/>
        </p:nvSpPr>
        <p:spPr>
          <a:xfrm>
            <a:off x="5072062" y="25459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Create a branch, modify code, and push a commit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7D44322-4074-5946-ACDF-ABD9DB065022}"/>
              </a:ext>
            </a:extLst>
          </p:cNvPr>
          <p:cNvSpPr/>
          <p:nvPr/>
        </p:nvSpPr>
        <p:spPr>
          <a:xfrm>
            <a:off x="1631962" y="33079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634708-E209-5F49-81F0-ABE9EAEBEB3E}"/>
              </a:ext>
            </a:extLst>
          </p:cNvPr>
          <p:cNvSpPr txBox="1"/>
          <p:nvPr/>
        </p:nvSpPr>
        <p:spPr>
          <a:xfrm>
            <a:off x="2393962" y="33460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Add Duplicate-Task Prevention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79C9DB13-F787-5449-980D-5AEB160C9FD1}"/>
              </a:ext>
            </a:extLst>
          </p:cNvPr>
          <p:cNvSpPr txBox="1"/>
          <p:nvPr/>
        </p:nvSpPr>
        <p:spPr>
          <a:xfrm>
            <a:off x="5072062" y="33841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Verify changes, push, and prepare a pull request</a:t>
            </a: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0662ADA0-A6CD-464C-8933-BF95FB78E90E}"/>
              </a:ext>
            </a:extLst>
          </p:cNvPr>
          <p:cNvSpPr/>
          <p:nvPr/>
        </p:nvSpPr>
        <p:spPr>
          <a:xfrm>
            <a:off x="1631962" y="41461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6155934-3CB9-084E-B7BC-FAAFC912681F}"/>
              </a:ext>
            </a:extLst>
          </p:cNvPr>
          <p:cNvSpPr txBox="1"/>
          <p:nvPr/>
        </p:nvSpPr>
        <p:spPr>
          <a:xfrm>
            <a:off x="2393962" y="4200098"/>
            <a:ext cx="2706688" cy="40011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en" altLang="zh-TW" dirty="0"/>
              <a:t>PR Merge and Sync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903E75E-58E7-5F4B-BB3C-2D111B755819}"/>
              </a:ext>
            </a:extLst>
          </p:cNvPr>
          <p:cNvSpPr txBox="1"/>
          <p:nvPr/>
        </p:nvSpPr>
        <p:spPr>
          <a:xfrm>
            <a:off x="5072062" y="42223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Review and merge the PR, then sync the latest progress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55B7286E-209C-7C4F-94E0-96DB8BC12013}"/>
              </a:ext>
            </a:extLst>
          </p:cNvPr>
          <p:cNvSpPr/>
          <p:nvPr/>
        </p:nvSpPr>
        <p:spPr>
          <a:xfrm>
            <a:off x="1631962" y="49843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5A6486-01E2-3241-BD95-325B19ABB734}"/>
              </a:ext>
            </a:extLst>
          </p:cNvPr>
          <p:cNvSpPr txBox="1"/>
          <p:nvPr/>
        </p:nvSpPr>
        <p:spPr>
          <a:xfrm>
            <a:off x="2393962" y="50224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Delete-Task Feature</a:t>
            </a: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1FAA150A-A88C-7744-AFF9-FA018CE5DC69}"/>
              </a:ext>
            </a:extLst>
          </p:cNvPr>
          <p:cNvSpPr txBox="1"/>
          <p:nvPr/>
        </p:nvSpPr>
        <p:spPr>
          <a:xfrm>
            <a:off x="5072062" y="50605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/>
              <a:t>Develop the delete-task feature and create a branch conflict</a:t>
            </a: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C4319AE9-5802-6546-BB96-40CC5C69244F}"/>
              </a:ext>
            </a:extLst>
          </p:cNvPr>
          <p:cNvSpPr/>
          <p:nvPr/>
        </p:nvSpPr>
        <p:spPr>
          <a:xfrm>
            <a:off x="1631962" y="5822553"/>
            <a:ext cx="508000" cy="508000"/>
          </a:xfrm>
          <a:prstGeom prst="ellipse">
            <a:avLst/>
          </a:prstGeom>
          <a:solidFill>
            <a:srgbClr val="1D3F7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TW" sz="1800" b="1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lang="zh-TW" altLang="en-US" sz="1800" b="1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2DF31CE-E877-4748-AD71-186EDE5D51CE}"/>
              </a:ext>
            </a:extLst>
          </p:cNvPr>
          <p:cNvSpPr txBox="1"/>
          <p:nvPr/>
        </p:nvSpPr>
        <p:spPr>
          <a:xfrm>
            <a:off x="2393962" y="5860653"/>
            <a:ext cx="2706688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dirty="0"/>
              <a:t>Resolve Merge Conflict</a:t>
            </a: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E4034B7-89AF-804F-8522-F40FEF8F7AD1}"/>
              </a:ext>
            </a:extLst>
          </p:cNvPr>
          <p:cNvSpPr txBox="1"/>
          <p:nvPr/>
        </p:nvSpPr>
        <p:spPr>
          <a:xfrm>
            <a:off x="5072062" y="5898753"/>
            <a:ext cx="5842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>
            <a:lvl1pPr>
              <a:defRPr sz="2000" b="1">
                <a:solidFill>
                  <a:srgbClr val="1B1F3B"/>
                </a:solidFill>
                <a:ea typeface="Noto Sans TC" pitchFamily="34" charset="-122"/>
                <a:cs typeface="Arial"/>
              </a:defRPr>
            </a:lvl1pPr>
          </a:lstStyle>
          <a:p>
            <a:r>
              <a:rPr lang="zh-TW" altLang="en-US" b="0" dirty="0"/>
              <a:t>Resolve the conflict and complete the merge</a:t>
            </a:r>
          </a:p>
        </p:txBody>
      </p:sp>
    </p:spTree>
    <p:extLst>
      <p:ext uri="{BB962C8B-B14F-4D97-AF65-F5344CB8AC3E}">
        <p14:creationId xmlns:p14="http://schemas.microsoft.com/office/powerpoint/2010/main" val="133809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Before development begins, complete three setup steps: create your personal repository, clone it locally, and initialize the Python environment with uv.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a Personal Repository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it from the template and push it to GitHub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Git Clone Locally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Get the project source code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Initialize the Dev Environment with uv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a virtual environment and install dependencies</a:t>
            </a:r>
          </a:p>
        </p:txBody>
      </p:sp>
    </p:spTree>
    <p:extLst>
      <p:ext uri="{BB962C8B-B14F-4D97-AF65-F5344CB8AC3E}">
        <p14:creationId xmlns:p14="http://schemas.microsoft.com/office/powerpoint/2010/main" val="2274542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438136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a Personal Repository from the Template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3742121" cy="2026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Log in to GitHub and open the Exercise 1 template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"Use this template"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"Create a new repository"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3E10FAE1-E0E8-1BD5-F83A-1A6670AD0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221" y="1904833"/>
            <a:ext cx="7309114" cy="419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050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E519-9CCA-DC9C-AE36-1D7CC165F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00F14AF-A19E-55D3-BA64-8CC9538C8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221" y="1904833"/>
            <a:ext cx="7300372" cy="4194577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AEC7439A-E906-CAF8-4C5A-5E7B1276DF90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6FDED4D-B597-579F-AE2F-08E6E03D6D87}"/>
              </a:ext>
            </a:extLst>
          </p:cNvPr>
          <p:cNvSpPr txBox="1"/>
          <p:nvPr/>
        </p:nvSpPr>
        <p:spPr>
          <a:xfrm>
            <a:off x="1159199" y="985350"/>
            <a:ext cx="10429394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a Personal Repository from the Template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38E538C-B876-F9C1-2C2E-0CC711BFC51E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73BB8CF-E3AE-1D51-F4B9-F0A13A1DE9C4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B6F10F-125F-B238-C082-0FD990ACF00B}"/>
              </a:ext>
            </a:extLst>
          </p:cNvPr>
          <p:cNvSpPr txBox="1"/>
          <p:nvPr/>
        </p:nvSpPr>
        <p:spPr>
          <a:xfrm>
            <a:off x="546100" y="1904833"/>
            <a:ext cx="3742121" cy="1524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Enter the repo name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Set Visibility to Public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"Create repository"</a:t>
            </a:r>
          </a:p>
        </p:txBody>
      </p:sp>
    </p:spTree>
    <p:extLst>
      <p:ext uri="{BB962C8B-B14F-4D97-AF65-F5344CB8AC3E}">
        <p14:creationId xmlns:p14="http://schemas.microsoft.com/office/powerpoint/2010/main" val="2472548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A0168-A2CF-6769-951D-0BBFEFA1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1720DF-6FDD-5CA7-027C-34DF80C8331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317F31-A64E-6590-04F8-C5CDD68783CF}"/>
              </a:ext>
            </a:extLst>
          </p:cNvPr>
          <p:cNvSpPr txBox="1"/>
          <p:nvPr/>
        </p:nvSpPr>
        <p:spPr>
          <a:xfrm>
            <a:off x="1155699" y="990600"/>
            <a:ext cx="80318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Clone the Repository Locally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9DA0ACCA-B287-97AA-678D-AF41EFDB9849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157CE9D-37D4-EE5A-716E-85C3DC59420B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B89EB6F-826B-166F-62C2-6ED1D061C5A7}"/>
              </a:ext>
            </a:extLst>
          </p:cNvPr>
          <p:cNvSpPr txBox="1"/>
          <p:nvPr/>
        </p:nvSpPr>
        <p:spPr>
          <a:xfrm>
            <a:off x="546100" y="1904998"/>
            <a:ext cx="3746500" cy="4140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Repo URL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Go to the personal exercise 1 repo page you just created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"Code"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Find the URL under HTTPS, then click the copy button on the right to copy it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6AD7AA5-AD3F-0FD5-35EE-BB02A03A5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600" y="1904999"/>
            <a:ext cx="7205717" cy="4140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58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810804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Clone the Repository Locally</a:t>
            </a:r>
            <a:endParaRPr lang="en-US" altLang="zh-TW" sz="34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46099" y="1904999"/>
            <a:ext cx="5549901" cy="4173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Code:</a:t>
            </a: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Press Cmd/Ctrl+Shift+P, type "Git: Clone", and click it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Paste the exercise 1 repo URL, or click "Clone from GitHub" below and select the exercise 1 repo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cd &lt;your code folder path&gt;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clone &lt;exercise 1 repo URL&gt;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that folder in VS Code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9C6BF23-BBA8-619E-D475-D244DA64E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04998"/>
            <a:ext cx="4912674" cy="239373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08D98A91-CD1C-FB0F-23A0-FA5B3205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09491"/>
            <a:ext cx="4918540" cy="70904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F73D993-56D8-637B-07EE-BC5549772B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5229299"/>
            <a:ext cx="4912674" cy="849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7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latin typeface="Arial"/>
                <a:cs typeface="Arial"/>
              </a:rPr>
              <a:t>Initialize the Python Env with uv</a:t>
            </a:r>
            <a:endParaRPr lang="en-US" sz="3400" b="1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215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546099" y="1905000"/>
            <a:ext cx="4194067" cy="3633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the terminal and run uv init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pyproject.toml, python-version, src, etc. were created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todo.py in the terminal</a:t>
            </a:r>
            <a:endParaRPr lang="en-US" altLang="zh-TW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.venv environment was created and check the output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0E14EC0E-0E39-57E7-CC18-FC81550BA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165" y="1905000"/>
            <a:ext cx="6905736" cy="434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50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Make the first commit on the main branch and push it to GitHub.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67512" y="3727328"/>
            <a:ext cx="7452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main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463040" y="3891920"/>
            <a:ext cx="8961120" cy="0"/>
          </a:xfrm>
          <a:prstGeom prst="line">
            <a:avLst/>
          </a:prstGeom>
          <a:noFill/>
          <a:ln w="31750">
            <a:solidFill>
              <a:srgbClr val="1B1F3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417320" y="3837056"/>
            <a:ext cx="109728" cy="109728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Shape 6"/>
          <p:cNvSpPr/>
          <p:nvPr/>
        </p:nvSpPr>
        <p:spPr>
          <a:xfrm>
            <a:off x="3566160" y="3827912"/>
            <a:ext cx="128016" cy="128016"/>
          </a:xfrm>
          <a:prstGeom prst="ellipse">
            <a:avLst/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1143000" y="4013200"/>
            <a:ext cx="2349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init: exercise 1</a:t>
            </a:r>
            <a:endParaRPr lang="en-US" sz="18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project environment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30168" y="3891920"/>
            <a:ext cx="2743200" cy="0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Connector DeleteTask"/>
          <p:cNvSpPr/>
          <p:nvPr/>
        </p:nvSpPr>
        <p:spPr>
          <a:xfrm flipV="1">
            <a:off x="3630168" y="3027812"/>
            <a:ext cx="2738628" cy="864108"/>
          </a:xfrm>
          <a:prstGeom prst="line">
            <a:avLst/>
          </a:prstGeom>
          <a:noFill/>
          <a:ln w="25400">
            <a:solidFill>
              <a:srgbClr val="5C6B85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309360" y="2968376"/>
            <a:ext cx="118872" cy="118872"/>
          </a:xfrm>
          <a:prstGeom prst="ellipse">
            <a:avLst/>
          </a:prstGeom>
          <a:solidFill>
            <a:srgbClr val="5C6B85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6537960" y="284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feature/delete-task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537959" y="32004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Create this branch now — Feature 2 will use it later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30168" y="3891920"/>
            <a:ext cx="2743200" cy="868680"/>
          </a:xfrm>
          <a:prstGeom prst="line">
            <a:avLst/>
          </a:prstGeom>
          <a:noFill/>
          <a:ln w="25400">
            <a:solidFill>
              <a:srgbClr val="2E6FF2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309360" y="4705736"/>
            <a:ext cx="118872" cy="118872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37960" y="46051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feature/add-task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537959" y="4965700"/>
            <a:ext cx="330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Next, start developing Feature 1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1447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Push the First 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35197" cy="4706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 the Source Control panel, click the + next to Changes to stage all file changes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Enter a commit message and click the checkmark to commit the staged changes</a:t>
            </a:r>
            <a:endParaRPr lang="en-US" sz="18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Sync Changes to push to GitHub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add .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commit -m "init: exercise 1 project environment"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push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304D9F9-B10D-360E-196E-040393B1C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521" y="4283914"/>
            <a:ext cx="4025900" cy="14224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FC93362-35B2-E400-713B-05A706857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5147" y="1904833"/>
            <a:ext cx="2702686" cy="212043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510CE01-8A02-F2D5-F849-5477E891F0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297" y="1904661"/>
            <a:ext cx="2999174" cy="212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0937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4867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the feature/delete-task Branch</a:t>
            </a: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341210" cy="436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current branch name (main) in the bottom-left corner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Select "Create new branch"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Enter feature/delete-task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feature/delete-task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4A815A7-C390-7FC1-BAA1-89C5734082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7310" y="2545760"/>
            <a:ext cx="6758589" cy="222911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58A1C05C-D9E3-5BBF-53CC-C12DC8A93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7310" y="4996699"/>
            <a:ext cx="6758590" cy="774739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E0B8137-9783-DDEB-653D-7F732C9B8A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7310" y="1904833"/>
            <a:ext cx="2832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978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025965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Create the feature/add-task Branch</a:t>
            </a:r>
            <a:endParaRPr lang="en-US" altLang="zh-TW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091277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branch name (feature/delete-task) in the bottom-left corner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local main branch to switch to it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Repeat the previous step to create the feature/add-task branch</a:t>
            </a:r>
            <a:endParaRPr lang="en-US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</a:t>
            </a:r>
          </a:p>
          <a:p>
            <a:pPr marL="914400" lvl="1" indent="-457200">
              <a:lnSpc>
                <a:spcPct val="130000"/>
              </a:lnSpc>
              <a:buFont typeface="+mj-lt"/>
              <a:buAutoNum type="arabicPeriod"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-b feature/add-task</a:t>
            </a: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8DC5F26-34D9-3FE7-53AA-A3265CDB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357" y="1904833"/>
            <a:ext cx="2908300" cy="431800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0834745F-AA39-6B7C-8550-06394F4E95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357" y="2567655"/>
            <a:ext cx="6532807" cy="2621005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46D35A1B-8A35-761D-2639-6762A0678A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7377" y="5419683"/>
            <a:ext cx="6532807" cy="67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54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3 · Add Duplicate-Task Prevention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Continuing on the feature/add-task branch, strengthen the duplicate check before add_task adds a new item, and update the display and verification flow.</a:t>
            </a:r>
          </a:p>
        </p:txBody>
      </p:sp>
      <p:sp>
        <p:nvSpPr>
          <p:cNvPr id="200" name="Card BG 2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1" name="Card Icon 2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2" name="Card Num 2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  <a:endParaRPr lang="en-US" sz="2200" b="1" dirty="0">
              <a:solidFill>
                <a:srgbClr val="FFFFFF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203" name="Card Title 2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Check Whether the Task Is Duplicate</a:t>
            </a:r>
          </a:p>
        </p:txBody>
      </p:sp>
      <p:sp>
        <p:nvSpPr>
          <p:cNvPr id="204" name="Card Desc 2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Compare names before add_task adds an item, and skip the addition if it is a duplicate</a:t>
            </a:r>
          </a:p>
        </p:txBody>
      </p:sp>
      <p:sp>
        <p:nvSpPr>
          <p:cNvPr id="210" name="Card BG 210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1" name="Card Icon 211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2" name="Card Num 212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213" name="Card Title 213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Update the Display Logic Accordingly</a:t>
            </a:r>
          </a:p>
        </p:txBody>
      </p:sp>
      <p:sp>
        <p:nvSpPr>
          <p:cNvPr id="214" name="Card Desc 214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displays the current item count; main() adds a duplicate test</a:t>
            </a:r>
          </a:p>
        </p:txBody>
      </p:sp>
      <p:sp>
        <p:nvSpPr>
          <p:cNvPr id="220" name="Card BG 22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1" name="Card Icon 22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2" name="Card Num 22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223" name="Card Title 22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Verify and Push the Commit</a:t>
            </a:r>
          </a:p>
        </p:txBody>
      </p:sp>
      <p:sp>
        <p:nvSpPr>
          <p:cNvPr id="224" name="Card Desc 22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todo.py to confirm the output, then push the commit</a:t>
            </a:r>
          </a:p>
        </p:txBody>
      </p:sp>
    </p:spTree>
    <p:extLst>
      <p:ext uri="{BB962C8B-B14F-4D97-AF65-F5344CB8AC3E}">
        <p14:creationId xmlns:p14="http://schemas.microsoft.com/office/powerpoint/2010/main" val="241357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Add Duplicate-Task Prevention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10019381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Modify todo.py to Prevent Duplicate Tasks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487982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add_task(): add a duplicate check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show_tasks(): display the item count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main(): add a duplicate-prevention demo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03CD35E-98EB-A2FD-1C25-C6181F72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919" y="1904833"/>
            <a:ext cx="5752661" cy="448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11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3B3C0-4E26-F6ED-45F2-5C2AA8D5D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A36FEF-523B-278E-23B7-A1BCB1B502DB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3 · Add Duplicate-Task Prevention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B5E07C9-12EA-6FD5-45CB-71FD112B4CB7}"/>
              </a:ext>
            </a:extLst>
          </p:cNvPr>
          <p:cNvSpPr txBox="1"/>
          <p:nvPr/>
        </p:nvSpPr>
        <p:spPr>
          <a:xfrm>
            <a:off x="1159199" y="985350"/>
            <a:ext cx="6986317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Verify, Then Push the Commit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C8CC7A4-A39D-7E56-D757-B6CAACF7A7F2}"/>
              </a:ext>
            </a:extLst>
          </p:cNvPr>
          <p:cNvSpPr/>
          <p:nvPr/>
        </p:nvSpPr>
        <p:spPr>
          <a:xfrm>
            <a:off x="546100" y="100637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694559B-2E62-B765-7AF4-ED597F4DAB39}"/>
              </a:ext>
            </a:extLst>
          </p:cNvPr>
          <p:cNvSpPr txBox="1"/>
          <p:nvPr/>
        </p:nvSpPr>
        <p:spPr>
          <a:xfrm>
            <a:off x="546100" y="985350"/>
            <a:ext cx="508000" cy="56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2864EA1-3CD5-C4D6-4D28-FC282C4002FC}"/>
              </a:ext>
            </a:extLst>
          </p:cNvPr>
          <p:cNvSpPr txBox="1"/>
          <p:nvPr/>
        </p:nvSpPr>
        <p:spPr>
          <a:xfrm>
            <a:off x="546100" y="1904833"/>
            <a:ext cx="5161017" cy="1947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todo.py in the terminal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duplicate task is blocked and a message is printed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header shows "1 item total"</a:t>
            </a:r>
          </a:p>
          <a:p>
            <a:pPr marL="457200" indent="-457200">
              <a:lnSpc>
                <a:spcPct val="10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Repeat the earlier commit steps, commit "add: prevent duplicate task", and push to GitHub</a:t>
            </a:r>
            <a:endParaRPr lang="zh-TW" altLang="zh-TW" sz="2000" dirty="0">
              <a:solidFill>
                <a:srgbClr val="5C6B85"/>
              </a:solidFill>
              <a:latin typeface="Arial"/>
              <a:cs typeface="Arial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ADE515E-3267-75E8-0066-8EF8368536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117" y="3042575"/>
            <a:ext cx="5866284" cy="80989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A445F6E7-2A12-3D78-A9E9-FDCD269A6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115" y="1936363"/>
            <a:ext cx="5866285" cy="63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3004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Compare &amp;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base: main ← compare: feature/add-task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26664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55264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3483864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483864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Check the Diff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3483864" y="3526159"/>
            <a:ext cx="1993392" cy="2222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In Files changed, confirm only todo.py was modified, write a brief PR description, then click Create pull request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33288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5961888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6190488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190488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190488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pull request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190488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Merge pull request → Confirm merge to complete the merge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39912" y="3757616"/>
            <a:ext cx="201168" cy="0"/>
          </a:xfrm>
          <a:prstGeom prst="line">
            <a:avLst/>
          </a:prstGeom>
          <a:noFill/>
          <a:ln w="25400">
            <a:solidFill>
              <a:srgbClr val="2E6FF2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8668512" y="1883096"/>
            <a:ext cx="2450592" cy="4261672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8897112" y="2139128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8897112" y="2139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97112" y="2751776"/>
            <a:ext cx="19933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Sync the Local main Branch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897112" y="3526160"/>
            <a:ext cx="199339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&amp;&amp; git pull, then run uv run python todo.py to verify Feature 1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6142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699" y="990600"/>
            <a:ext cx="1049742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Go Back to GitHub to Open a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4183557" cy="2992821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Go to your personal exercise 1 repository page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"Compare &amp; pull request"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BA9220B-544E-CEFB-BF42-EB22E01ED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655" y="1905000"/>
            <a:ext cx="692347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107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C2433-A1A4-5FD9-631E-0B5B8811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058A2B8-EC79-E0E9-27E9-4E6DD50E1B07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AD233D3-F0F7-B04E-7BFC-74552146419B}"/>
              </a:ext>
            </a:extLst>
          </p:cNvPr>
          <p:cNvSpPr txBox="1"/>
          <p:nvPr/>
        </p:nvSpPr>
        <p:spPr>
          <a:xfrm>
            <a:off x="1155700" y="990600"/>
            <a:ext cx="10490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Review Changes Before Opening 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980762F-9DCD-ECA4-5A9B-70FC317FA7A5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C8D240D-A4C8-BE0D-E4BB-915D025AA564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D5AE142-DA52-179E-C08B-4A84D297A8A4}"/>
              </a:ext>
            </a:extLst>
          </p:cNvPr>
          <p:cNvSpPr txBox="1"/>
          <p:nvPr/>
        </p:nvSpPr>
        <p:spPr>
          <a:xfrm>
            <a:off x="546098" y="1905001"/>
            <a:ext cx="413100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Review the commit history and file changes below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only todo.py was modified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E6CB7B9-C5CC-F14F-FF23-B7F5B4654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03" y="1905001"/>
            <a:ext cx="6968799" cy="399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644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5C1F8-0534-EA96-5608-B8BB11ED6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84E596-5492-F250-E1F9-83FF60F2A6F9}"/>
              </a:ext>
            </a:extLst>
          </p:cNvPr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0C7738F-27D4-925A-B633-1E11571E8091}"/>
              </a:ext>
            </a:extLst>
          </p:cNvPr>
          <p:cNvSpPr txBox="1"/>
          <p:nvPr/>
        </p:nvSpPr>
        <p:spPr>
          <a:xfrm>
            <a:off x="1155700" y="990600"/>
            <a:ext cx="104775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Review Changes Before Opening Pull Request</a:t>
            </a:r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CE33A4C-615D-6132-9450-5AA3C0DBC0C1}"/>
              </a:ext>
            </a:extLst>
          </p:cNvPr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DC8C12-EF7B-1841-8C8B-AC19F4B6D7E9}"/>
              </a:ext>
            </a:extLst>
          </p:cNvPr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3AA4A6B7-289D-9E52-9EFD-ED9ED5FA964D}"/>
              </a:ext>
            </a:extLst>
          </p:cNvPr>
          <p:cNvSpPr txBox="1"/>
          <p:nvPr/>
        </p:nvSpPr>
        <p:spPr>
          <a:xfrm>
            <a:off x="546098" y="1905001"/>
            <a:ext cx="4109985" cy="1069427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TW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Scroll back up to confirm base: main ← compare: feature/add-task and that the right side shows "Able to merge"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"Create Pull Request"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A458072-7B0D-6723-F256-5C157B3EE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1905002"/>
            <a:ext cx="6985000" cy="4005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830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990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the Pull Request</a:t>
            </a: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8" y="1905000"/>
            <a:ext cx="5203061" cy="3589319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After the PR is created, click "Merge pull request"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"Confirm merge" again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"Pull request successfully merged and closed" confirms the merge succeeded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7D6567F-92CF-8CDA-C892-3E67880516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87" t="58975" r="30804" b="20042"/>
          <a:stretch>
            <a:fillRect/>
          </a:stretch>
        </p:blipFill>
        <p:spPr>
          <a:xfrm>
            <a:off x="5749159" y="1905000"/>
            <a:ext cx="4729655" cy="92491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47DB8CF-A5A1-0792-F130-5EC8A611B5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01" t="45411" r="30865"/>
          <a:stretch>
            <a:fillRect/>
          </a:stretch>
        </p:blipFill>
        <p:spPr>
          <a:xfrm>
            <a:off x="5749159" y="3039820"/>
            <a:ext cx="4729655" cy="2385009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876AACF-CFEB-1473-6840-7CA66F2D5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9159" y="5634740"/>
            <a:ext cx="4729656" cy="506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1155700" y="990600"/>
            <a:ext cx="6985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Sync and Verify Feature 1</a:t>
            </a:r>
            <a:endParaRPr lang="en-US" sz="3400" b="1" dirty="0">
              <a:solidFill>
                <a:srgbClr val="1B1F3B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6100" y="1003300"/>
            <a:ext cx="508000" cy="5080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46100" y="1003300"/>
            <a:ext cx="50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546097" y="1905000"/>
            <a:ext cx="6192159" cy="4770120"/>
          </a:xfrm>
          <a:prstGeom prst="rect">
            <a:avLst/>
          </a:prstGeom>
          <a:noFill/>
          <a:ln/>
        </p:spPr>
        <p:txBody>
          <a:bodyPr wrap="square" lIns="0" tIns="0" rIns="0" bIns="0" rtlCol="0" anchor="t" anchorCtr="0"/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Sync the local main branch to the latest progress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VS Code: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branch name (bottom-left) to switch to main 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Git Graph and click Pull at the top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Terminal: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checkout main </a:t>
            </a:r>
          </a:p>
          <a:p>
            <a:pPr marL="1371600" lvl="2" indent="-4572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git pull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Verify Feature 1: </a:t>
            </a: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Run uv run python todo.py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800100" lvl="1" indent="-342900">
              <a:lnSpc>
                <a:spcPct val="130000"/>
              </a:lnSpc>
              <a:buFont typeface="+mj-lt"/>
              <a:buAutoNum type="arabicPeriod"/>
            </a:pPr>
            <a:r>
              <a:rPr lang="en-US" altLang="zh-TW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Confirm the duplicate task is blocked and the count is shown</a:t>
            </a:r>
            <a:endParaRPr lang="en-US" altLang="zh-TW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BB0A0E1-8A15-2315-B513-7A6E8DBAA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1" y="1905000"/>
            <a:ext cx="3683000" cy="787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9D823E-FDA3-9B49-EB32-D29891E18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1" y="3059754"/>
            <a:ext cx="3733800" cy="7620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09EE2AF-1ECD-5420-7B11-B44B4E9ADE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262137"/>
            <a:ext cx="5850280" cy="63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4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Recap: Phases 1–4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D5514CD-BCEC-9E45-81A6-147529242FD4}"/>
              </a:ext>
            </a:extLst>
          </p:cNvPr>
          <p:cNvSpPr/>
          <p:nvPr/>
        </p:nvSpPr>
        <p:spPr>
          <a:xfrm>
            <a:off x="546100" y="18796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5EB6359-D069-2B4A-BA9B-72C9CB9084DE}"/>
              </a:ext>
            </a:extLst>
          </p:cNvPr>
          <p:cNvSpPr txBox="1"/>
          <p:nvPr/>
        </p:nvSpPr>
        <p:spPr>
          <a:xfrm>
            <a:off x="1333500" y="18288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1 · Set Up Project Environment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Use the template to create separate repositories, so version history is trackable from the start and everyone works independently.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3E684D8-115E-AF4C-97FE-A61F6ABA883A}"/>
              </a:ext>
            </a:extLst>
          </p:cNvPr>
          <p:cNvSpPr/>
          <p:nvPr/>
        </p:nvSpPr>
        <p:spPr>
          <a:xfrm>
            <a:off x="546100" y="30988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282F54D8-8C98-B344-8DE5-098654B38381}"/>
              </a:ext>
            </a:extLst>
          </p:cNvPr>
          <p:cNvSpPr txBox="1"/>
          <p:nvPr/>
        </p:nvSpPr>
        <p:spPr>
          <a:xfrm>
            <a:off x="1333500" y="30480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2 · Project Version Control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Use feature branches to isolate development, keeping main stable and enabling multiple features to be developed in parallel.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30A9B0A3-B5B6-3640-B23A-1BEFC5196B47}"/>
              </a:ext>
            </a:extLst>
          </p:cNvPr>
          <p:cNvSpPr/>
          <p:nvPr/>
        </p:nvSpPr>
        <p:spPr>
          <a:xfrm>
            <a:off x="546100" y="43180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34A0516-C973-D24E-ABBA-D4B0B0270BD5}"/>
              </a:ext>
            </a:extLst>
          </p:cNvPr>
          <p:cNvSpPr txBox="1"/>
          <p:nvPr/>
        </p:nvSpPr>
        <p:spPr>
          <a:xfrm>
            <a:off x="1333500" y="42672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3 · Duplicate-Task Prevention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 err="1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Understand the existing code logic before modifying a feature, and build the habit of considering edge cases at the same time.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CDB2C8D-4681-5C40-9041-A0D5741FC720}"/>
              </a:ext>
            </a:extLst>
          </p:cNvPr>
          <p:cNvSpPr/>
          <p:nvPr/>
        </p:nvSpPr>
        <p:spPr>
          <a:xfrm>
            <a:off x="546100" y="5537200"/>
            <a:ext cx="508000" cy="508000"/>
          </a:xfrm>
          <a:prstGeom prst="ellipse">
            <a:avLst/>
          </a:prstGeom>
          <a:solidFill>
            <a:srgbClr val="1B3F9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098129C-47D9-8D45-A26C-B473B69410DD}"/>
              </a:ext>
            </a:extLst>
          </p:cNvPr>
          <p:cNvSpPr txBox="1"/>
          <p:nvPr/>
        </p:nvSpPr>
        <p:spPr>
          <a:xfrm>
            <a:off x="1333500" y="5486400"/>
            <a:ext cx="10312400" cy="639662"/>
          </a:xfrm>
          <a:prstGeom prst="rect">
            <a:avLst/>
          </a:prstGeom>
          <a:noFill/>
        </p:spPr>
        <p:txBody>
          <a:bodyPr vertOverflow="overflow" vert="horz" wrap="square" lIns="0" tIns="0" rIns="0" bIns="0" rtlCol="0" anchor="t">
            <a:sp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Phase 4 · PR Merge and Sync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44546A"/>
                </a:solidFill>
                <a:latin typeface="Arial"/>
                <a:ea typeface="Noto Sans TC" pitchFamily="34" charset="-122"/>
                <a:cs typeface="Arial"/>
              </a:rPr>
              <a:t>A pull request is the checkpoint for code review and version sync, ensuring changes are reviewed and verified before merging into main.</a:t>
            </a:r>
          </a:p>
        </p:txBody>
      </p:sp>
    </p:spTree>
    <p:extLst>
      <p:ext uri="{BB962C8B-B14F-4D97-AF65-F5344CB8AC3E}">
        <p14:creationId xmlns:p14="http://schemas.microsoft.com/office/powerpoint/2010/main" val="513111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892040"/>
            <a:ext cx="4572000" cy="4572000"/>
          </a:xfrm>
          <a:prstGeom prst="ellipse">
            <a:avLst/>
          </a:prstGeom>
          <a:solidFill>
            <a:srgbClr val="EAF1F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9875520" y="-1463040"/>
            <a:ext cx="3657600" cy="3657600"/>
          </a:xfrm>
          <a:prstGeom prst="ellipse">
            <a:avLst/>
          </a:prstGeom>
          <a:solidFill>
            <a:srgbClr val="BBD3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10149840" y="-1188720"/>
            <a:ext cx="3108960" cy="31089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22960" y="1538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rgbClr val="1A1A2E"/>
                </a:solidFill>
                <a:latin typeface="Arial"/>
                <a:ea typeface="Noto Sans TC" pitchFamily="34" charset="-122"/>
                <a:cs typeface="Arial"/>
              </a:rPr>
              <a:t>Submission Requirements</a:t>
            </a:r>
            <a:endParaRPr lang="en-US" sz="5400" dirty="0">
              <a:latin typeface="Arial"/>
              <a:cs typeface="Arial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AC09860-E76E-9C43-8982-1F7D9839BB41}"/>
              </a:ext>
            </a:extLst>
          </p:cNvPr>
          <p:cNvSpPr txBox="1"/>
          <p:nvPr/>
        </p:nvSpPr>
        <p:spPr>
          <a:xfrm>
            <a:off x="822960" y="2717487"/>
            <a:ext cx="9655854" cy="221406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Items to Submit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GitHub repo link (including the merge records of both the Feature 1 and Feature 2 PRs)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Git Graph screenshot (from VS Code, clearly showing the branching and merge process)</a:t>
            </a:r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Assignment Rules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Each assignment is worth 2.5% of the grade</a:t>
            </a:r>
          </a:p>
          <a:p>
            <a:pPr marL="285750" indent="-285750">
              <a:lnSpc>
                <a:spcPct val="120000"/>
              </a:lnSpc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333333"/>
                </a:solidFill>
                <a:latin typeface="Arial"/>
                <a:ea typeface="Noto Sans TC" pitchFamily="34" charset="-122"/>
                <a:cs typeface="Arial"/>
              </a:rPr>
              <a:t>Due by 23:59 on the day of class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4CAAF66-1476-8309-F758-EF686B1E5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058884"/>
            <a:ext cx="5267960" cy="2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0069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5 · Delete-Task Feature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Add a delete_task feature on the feature/delete-task branch, allowing users to remove a task from the list by name.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300" name="Card BG 300"/>
          <p:cNvSpPr/>
          <p:nvPr/>
        </p:nvSpPr>
        <p:spPr>
          <a:xfrm>
            <a:off x="546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1" name="Card Icon 301"/>
          <p:cNvSpPr/>
          <p:nvPr/>
        </p:nvSpPr>
        <p:spPr>
          <a:xfrm>
            <a:off x="850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2" name="Card Num 302"/>
          <p:cNvSpPr txBox="1"/>
          <p:nvPr/>
        </p:nvSpPr>
        <p:spPr>
          <a:xfrm>
            <a:off x="850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①</a:t>
            </a:r>
          </a:p>
        </p:txBody>
      </p:sp>
      <p:sp>
        <p:nvSpPr>
          <p:cNvPr id="303" name="Card Title 303"/>
          <p:cNvSpPr txBox="1"/>
          <p:nvPr/>
        </p:nvSpPr>
        <p:spPr>
          <a:xfrm>
            <a:off x="850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Find and Remove the Task</a:t>
            </a:r>
          </a:p>
        </p:txBody>
      </p:sp>
      <p:sp>
        <p:nvSpPr>
          <p:cNvPr id="304" name="Card Desc 304"/>
          <p:cNvSpPr txBox="1"/>
          <p:nvPr/>
        </p:nvSpPr>
        <p:spPr>
          <a:xfrm>
            <a:off x="850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delete_task searches the list by name and removes the matching entry if found</a:t>
            </a:r>
          </a:p>
        </p:txBody>
      </p:sp>
      <p:sp>
        <p:nvSpPr>
          <p:cNvPr id="305" name="Card BG 305"/>
          <p:cNvSpPr/>
          <p:nvPr/>
        </p:nvSpPr>
        <p:spPr>
          <a:xfrm>
            <a:off x="4229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 Icon 306"/>
          <p:cNvSpPr/>
          <p:nvPr/>
        </p:nvSpPr>
        <p:spPr>
          <a:xfrm>
            <a:off x="4533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7" name="Card Num 307"/>
          <p:cNvSpPr txBox="1"/>
          <p:nvPr/>
        </p:nvSpPr>
        <p:spPr>
          <a:xfrm>
            <a:off x="4533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②</a:t>
            </a:r>
          </a:p>
        </p:txBody>
      </p:sp>
      <p:sp>
        <p:nvSpPr>
          <p:cNvPr id="308" name="Card Title 308"/>
          <p:cNvSpPr txBox="1"/>
          <p:nvPr/>
        </p:nvSpPr>
        <p:spPr>
          <a:xfrm>
            <a:off x="4533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Handle the Not-Found Case</a:t>
            </a:r>
          </a:p>
        </p:txBody>
      </p:sp>
      <p:sp>
        <p:nvSpPr>
          <p:cNvPr id="309" name="Card Desc 309"/>
          <p:cNvSpPr txBox="1"/>
          <p:nvPr/>
        </p:nvSpPr>
        <p:spPr>
          <a:xfrm>
            <a:off x="4533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 a message if the name does not exist, without interrupting program execution</a:t>
            </a:r>
          </a:p>
        </p:txBody>
      </p:sp>
      <p:sp>
        <p:nvSpPr>
          <p:cNvPr id="310" name="Card BG 310"/>
          <p:cNvSpPr/>
          <p:nvPr/>
        </p:nvSpPr>
        <p:spPr>
          <a:xfrm>
            <a:off x="7912100" y="2349500"/>
            <a:ext cx="3238500" cy="35560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1" name="Card Icon 311"/>
          <p:cNvSpPr/>
          <p:nvPr/>
        </p:nvSpPr>
        <p:spPr>
          <a:xfrm>
            <a:off x="8216900" y="2857500"/>
            <a:ext cx="711200" cy="711200"/>
          </a:xfrm>
          <a:prstGeom prst="ellipse">
            <a:avLst/>
          </a:prstGeom>
          <a:solidFill>
            <a:srgbClr val="1B1F3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2" name="Card Num 312"/>
          <p:cNvSpPr txBox="1"/>
          <p:nvPr/>
        </p:nvSpPr>
        <p:spPr>
          <a:xfrm>
            <a:off x="8216900" y="2857500"/>
            <a:ext cx="711200" cy="711200"/>
          </a:xfrm>
          <a:prstGeom prst="rect">
            <a:avLst/>
          </a:prstGeom>
          <a:noFill/>
        </p:spPr>
        <p:txBody>
          <a:bodyPr wrap="none" lIns="0" tIns="0" rIns="0" bIns="0" anchor="ctr" anchorCtr="1">
            <a:no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③</a:t>
            </a:r>
          </a:p>
        </p:txBody>
      </p:sp>
      <p:sp>
        <p:nvSpPr>
          <p:cNvPr id="313" name="Card Title 313"/>
          <p:cNvSpPr txBox="1"/>
          <p:nvPr/>
        </p:nvSpPr>
        <p:spPr>
          <a:xfrm>
            <a:off x="8216900" y="3924300"/>
            <a:ext cx="2628900" cy="558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Update the Display and Push the Commit</a:t>
            </a:r>
          </a:p>
        </p:txBody>
      </p:sp>
      <p:sp>
        <p:nvSpPr>
          <p:cNvPr id="314" name="Card Desc 314"/>
          <p:cNvSpPr txBox="1"/>
          <p:nvPr/>
        </p:nvSpPr>
        <p:spPr>
          <a:xfrm>
            <a:off x="8216900" y="4787900"/>
            <a:ext cx="2628900" cy="8128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show_tasks() re-displays the list; verify it, then push the commit</a:t>
            </a:r>
          </a:p>
        </p:txBody>
      </p:sp>
    </p:spTree>
    <p:extLst>
      <p:ext uri="{BB962C8B-B14F-4D97-AF65-F5344CB8AC3E}">
        <p14:creationId xmlns:p14="http://schemas.microsoft.com/office/powerpoint/2010/main" val="2127545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PHASE 5 · Delete-Task Feature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6099" y="990600"/>
            <a:ext cx="9470259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 err="1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Push the Delete-Task Feature and Open a PR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02" name="Text Step List"/>
          <p:cNvSpPr txBox="1"/>
          <p:nvPr/>
        </p:nvSpPr>
        <p:spPr>
          <a:xfrm>
            <a:off x="546100" y="1905000"/>
            <a:ext cx="4572000" cy="4191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Switch to the feature/delete-task branch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Modify todo.py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Commit "add: delete task" and push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 err="1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Open a PR on the GitHub page</a:t>
            </a:r>
            <a:endParaRPr lang="en-US" sz="2000" dirty="0">
              <a:solidFill>
                <a:srgbClr val="5C6B85"/>
              </a:solidFill>
              <a:latin typeface="Arial"/>
              <a:ea typeface="Noto Sans TC" pitchFamily="34" charset="-122"/>
              <a:cs typeface="Arial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4E320D5-9122-ED70-184C-0438770AD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1905000"/>
            <a:ext cx="6527800" cy="442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395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zh-TW" b="1" kern="0" spc="200" dirty="0">
                <a:solidFill>
                  <a:srgbClr val="1D3F72"/>
                </a:solidFill>
                <a:ea typeface="Noto Sans TC" pitchFamily="34" charset="-122"/>
                <a:cs typeface="Arial"/>
              </a:rPr>
              <a:t>PHASE 5 · Delete-Task Feature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A Conflict Appears: Merge Conflicts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060704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After creating the PR, the page shows a red “Can't automatically merge” message — GitHub is telling you in advance that main and feature/delete-task already conflict.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6FF2"/>
                </a:solidFill>
                <a:latin typeface="Arial"/>
                <a:ea typeface="Noto Sans TC" pitchFamily="34" charset="-122"/>
                <a:cs typeface="Arial"/>
              </a:rPr>
              <a:t>Conflict Markers in todo.py</a:t>
            </a:r>
            <a:endParaRPr lang="en-US" sz="18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6217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&lt;&lt;&lt;&lt;&lt;&lt;&lt; main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To-Do List ({len(tasks)} items total) 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=======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CBD3E8"/>
                </a:solidFill>
                <a:latin typeface="Arial"/>
                <a:ea typeface="Courier New" pitchFamily="34" charset="-122"/>
                <a:cs typeface="Arial"/>
              </a:rPr>
              <a:t>    print(f"=== To-Do List ({len(tasks)} items remaining) ===")</a:t>
            </a:r>
            <a:endParaRPr lang="en-US" sz="1400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AB6FF"/>
                </a:solidFill>
                <a:latin typeface="Arial"/>
                <a:ea typeface="Courier New" pitchFamily="34" charset="-122"/>
                <a:cs typeface="Arial"/>
              </a:rPr>
              <a:t>&gt;&gt;&gt;&gt;&gt;&gt;&gt; feature/delete-task</a:t>
            </a:r>
            <a:endParaRPr lang="en-US" sz="1400" dirty="0">
              <a:latin typeface="Arial"/>
              <a:cs typeface="Arial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452360" y="2148840"/>
            <a:ext cx="4206240" cy="2743200"/>
          </a:xfrm>
          <a:prstGeom prst="roundRect">
            <a:avLst>
              <a:gd name="adj" fmla="val 333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76809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Why the Conflict Happened</a:t>
            </a:r>
            <a:endParaRPr lang="en-US" sz="2000" dirty="0">
              <a:latin typeface="Arial"/>
              <a:cs typeface="Arial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680960" y="274320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Both branches modified the same title line in show_tasks()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But changed it to different content ("total" vs "remaining")</a:t>
            </a:r>
            <a:endParaRPr lang="en-US" sz="1500" dirty="0">
              <a:latin typeface="Arial"/>
              <a:cs typeface="Arial"/>
            </a:endParaRPr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Other parts (duplicate prevention, delete_task) don't conflict — Git will merge them automatically</a:t>
            </a:r>
            <a:endParaRPr lang="en-US" sz="1500" dirty="0">
              <a:latin typeface="Arial"/>
              <a:cs typeface="Arial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16636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BEAE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516636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D3F72"/>
                </a:solidFill>
                <a:latin typeface="Arial"/>
                <a:ea typeface="Noto Sans TC" pitchFamily="34" charset="-122"/>
                <a:cs typeface="Arial"/>
              </a:rPr>
              <a:t>On the PR page: a red "Merge conflicts" label, the message "This branch has conflicts that must be resolved," and a grayed-out, unclickable "Merge pull request" button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83320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713232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PHASE 6 ·</a:t>
            </a:r>
            <a:r>
              <a:rPr lang="zh-TW" alt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 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Resolve </a:t>
            </a:r>
            <a:r>
              <a:rPr lang="en-US" altLang="zh-TW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Merge </a:t>
            </a:r>
            <a:r>
              <a:rPr lang="en-US" sz="340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Conflict</a:t>
            </a:r>
            <a:endParaRPr lang="en-US" sz="3400" dirty="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1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Edit on the web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Click the dropdown arrow next to "Resolve conflicts" → select "Edit on the web" (do not choose "Fix with Copilot")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55264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483864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34838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2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483864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Keep One Version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483864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Delete the conflict markers (&lt;&lt;&lt;&lt;&lt;&lt;&lt;, =======, &gt;&gt;&gt;&gt;&gt;&gt;&gt;) and the line you don't want, keeping only one version of the title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61888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6190488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19048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3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190488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Mark as resolved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190488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5C6B85"/>
                </a:solidFill>
                <a:latin typeface="Arial"/>
                <a:ea typeface="Noto Sans TC" pitchFamily="34" charset="-122"/>
                <a:cs typeface="Arial"/>
              </a:rPr>
              <a:t>Once the red "1 conflict" in the top-right disappears and turns into a green checkmark "Resolved," click "Mark as resolved"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68512" y="1737360"/>
            <a:ext cx="2450592" cy="3291840"/>
          </a:xfrm>
          <a:prstGeom prst="roundRect">
            <a:avLst>
              <a:gd name="adj" fmla="val 3731"/>
            </a:avLst>
          </a:prstGeom>
          <a:solidFill>
            <a:srgbClr val="1B1F3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897112" y="1993392"/>
            <a:ext cx="457200" cy="457200"/>
          </a:xfrm>
          <a:prstGeom prst="ellipse">
            <a:avLst/>
          </a:prstGeom>
          <a:solidFill>
            <a:srgbClr val="2E6F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89711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4</a:t>
            </a:r>
            <a:endParaRPr lang="en-US" sz="1900" dirty="0">
              <a:latin typeface="Arial"/>
              <a:cs typeface="Arial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97112" y="2606040"/>
            <a:ext cx="199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b="1" dirty="0">
                <a:solidFill>
                  <a:srgbClr val="FFFFFF"/>
                </a:solidFill>
                <a:latin typeface="Arial"/>
                <a:ea typeface="Noto Sans TC" pitchFamily="34" charset="-122"/>
                <a:cs typeface="Arial"/>
              </a:rPr>
              <a:t>Commit merge</a:t>
            </a:r>
            <a:endParaRPr lang="en-US" sz="1950" dirty="0">
              <a:latin typeface="Arial"/>
              <a:cs typeface="Arial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97112" y="3154680"/>
            <a:ext cx="19933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dirty="0">
                <a:solidFill>
                  <a:srgbClr val="CBD3E8"/>
                </a:solidFill>
                <a:latin typeface="Arial"/>
                <a:ea typeface="Noto Sans TC" pitchFamily="34" charset="-122"/>
                <a:cs typeface="Arial"/>
              </a:rPr>
              <a:t>Go back to the PR page and click the green "Commit merge" button to complete the merge</a:t>
            </a:r>
            <a:endParaRPr lang="en-US" sz="1550" dirty="0">
              <a:latin typeface="Arial"/>
              <a:cs typeface="Arial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4F5F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822960" y="5349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B1F3B"/>
                </a:solidFill>
                <a:latin typeface="Arial"/>
                <a:ea typeface="Noto Sans TC" pitchFamily="34" charset="-122"/>
                <a:cs typeface="Arial"/>
              </a:rPr>
              <a:t>Then sync locally: git checkout main &amp;&amp; git pull, run uv run todo.py, and confirm the duplicate-prevention and delete features both work correctly and the header displays properly.</a:t>
            </a:r>
            <a:endParaRPr lang="en-US"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6821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9574179963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2E6FF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anose="020F0302020204030204"/>
        <a:ea typeface="Noto Sans T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 panose="020F0502020204030204"/>
        <a:ea typeface="Noto Sans T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BDBF3F-32E4-0B4C-BB8D-0A8EBFCC1EF3}">
  <we:reference id="wa200010725" version="1.0.0.1" store="zh-TW" storeType="OMEX"/>
  <we:alternateReferences>
    <we:reference id="WA200010725" version="1.0.0.1" store="WA200010725" storeType="OMEX"/>
  </we:alternateReferences>
  <we:properties>
    <we:property name="claude.fileId" value="&quot;638f36e9-a412-4447-9e56-68fe7ad0c19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1823</Words>
  <Application>Microsoft Macintosh PowerPoint</Application>
  <PresentationFormat>寬螢幕</PresentationFormat>
  <Paragraphs>275</Paragraphs>
  <Slides>27</Slides>
  <Notes>26</Notes>
  <HiddenSlides>4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0" baseType="lpstr">
      <vt:lpstr>Noto Sans TC</vt:lpstr>
      <vt:lpstr>Arial</vt:lpstr>
      <vt:lpstr>Office Theme [1789574179963]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薛耀智 (115522076)</cp:lastModifiedBy>
  <cp:revision>98</cp:revision>
  <dcterms:created xsi:type="dcterms:W3CDTF">2026-09-15T08:24:35Z</dcterms:created>
  <dcterms:modified xsi:type="dcterms:W3CDTF">2026-09-17T06:52:06Z</dcterms:modified>
</cp:coreProperties>
</file>